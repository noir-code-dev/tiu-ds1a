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357" r:id="rId37"/>
    <p:sldId id="358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54" r:id="rId82"/>
    <p:sldId id="355" r:id="rId83"/>
    <p:sldId id="356" r:id="rId84"/>
    <p:sldId id="334" r:id="rId85"/>
    <p:sldId id="335" r:id="rId86"/>
    <p:sldId id="337" r:id="rId87"/>
    <p:sldId id="338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798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70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70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70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70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1836" y="178099"/>
            <a:ext cx="11708327" cy="689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70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50426" y="2982010"/>
            <a:ext cx="6058534" cy="2508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7" Type="http://schemas.openxmlformats.org/officeDocument/2006/relationships/image" Target="../media/image77.pn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6.png"/><Relationship Id="rId5" Type="http://schemas.openxmlformats.org/officeDocument/2006/relationships/image" Target="../media/image75.jpeg"/><Relationship Id="rId4" Type="http://schemas.openxmlformats.org/officeDocument/2006/relationships/image" Target="../media/image72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6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5.jpeg"/><Relationship Id="rId4" Type="http://schemas.openxmlformats.org/officeDocument/2006/relationships/image" Target="../media/image72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jpeg"/><Relationship Id="rId7" Type="http://schemas.openxmlformats.org/officeDocument/2006/relationships/image" Target="../media/image98.png"/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7.jpeg"/><Relationship Id="rId5" Type="http://schemas.openxmlformats.org/officeDocument/2006/relationships/image" Target="../media/image96.jpeg"/><Relationship Id="rId4" Type="http://schemas.openxmlformats.org/officeDocument/2006/relationships/image" Target="../media/image95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4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eg"/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eg"/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eg"/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e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e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eg"/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jpe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eg"/><Relationship Id="rId2" Type="http://schemas.openxmlformats.org/officeDocument/2006/relationships/image" Target="../media/image128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0.jpe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jpe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jpe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jpeg"/><Relationship Id="rId2" Type="http://schemas.openxmlformats.org/officeDocument/2006/relationships/image" Target="../media/image133.jpe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image" Target="../media/image135.jpe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98797" y="1197031"/>
            <a:ext cx="91935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6500" algn="l"/>
              </a:tabLst>
            </a:pPr>
            <a:r>
              <a:rPr sz="7200" spc="-10" dirty="0">
                <a:solidFill>
                  <a:srgbClr val="000000"/>
                </a:solidFill>
                <a:latin typeface="Times New Roman"/>
                <a:cs typeface="Times New Roman"/>
              </a:rPr>
              <a:t>Engineering</a:t>
            </a:r>
            <a:r>
              <a:rPr sz="720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7200" spc="-10" dirty="0">
                <a:solidFill>
                  <a:srgbClr val="000000"/>
                </a:solidFill>
                <a:latin typeface="Times New Roman"/>
                <a:cs typeface="Times New Roman"/>
              </a:rPr>
              <a:t>Mechanics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pc="-25" dirty="0"/>
              <a:t>By</a:t>
            </a: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/>
              <a:t>Dr</a:t>
            </a:r>
            <a:r>
              <a:rPr/>
              <a:t>.</a:t>
            </a:r>
            <a:r>
              <a:rPr spc="-10"/>
              <a:t> </a:t>
            </a:r>
            <a:r>
              <a:rPr lang="en-US" spc="-10" dirty="0" err="1" smtClean="0"/>
              <a:t>Pradipta</a:t>
            </a:r>
            <a:r>
              <a:rPr lang="en-US" spc="-10" dirty="0" smtClean="0"/>
              <a:t> </a:t>
            </a:r>
            <a:r>
              <a:rPr lang="en-US" spc="-10" dirty="0" err="1" smtClean="0"/>
              <a:t>Basu</a:t>
            </a:r>
            <a:r>
              <a:rPr lang="en-US" spc="-10" dirty="0" smtClean="0"/>
              <a:t> </a:t>
            </a:r>
            <a:r>
              <a:rPr lang="en-US" spc="-10" dirty="0" err="1" smtClean="0"/>
              <a:t>Mandal</a:t>
            </a:r>
            <a:endParaRPr spc="-20" dirty="0"/>
          </a:p>
          <a:p>
            <a:pPr marL="12700" marR="5080">
              <a:lnSpc>
                <a:spcPct val="113100"/>
              </a:lnSpc>
            </a:pPr>
            <a:r>
              <a:rPr dirty="0"/>
              <a:t>Dept.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Mechanical</a:t>
            </a:r>
            <a:r>
              <a:rPr spc="-35" dirty="0"/>
              <a:t> </a:t>
            </a:r>
            <a:r>
              <a:rPr spc="-10" dirty="0"/>
              <a:t>Engineering </a:t>
            </a:r>
            <a:r>
              <a:rPr dirty="0"/>
              <a:t>Techno</a:t>
            </a:r>
            <a:r>
              <a:rPr spc="-20" dirty="0"/>
              <a:t> </a:t>
            </a:r>
            <a:r>
              <a:rPr dirty="0"/>
              <a:t>India</a:t>
            </a:r>
            <a:r>
              <a:rPr spc="-15" dirty="0"/>
              <a:t> </a:t>
            </a:r>
            <a:r>
              <a:rPr spc="-10" dirty="0"/>
              <a:t>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9437" y="2853369"/>
            <a:ext cx="26904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FF"/>
                </a:solidFill>
                <a:latin typeface="Calibri"/>
                <a:cs typeface="Calibri"/>
              </a:rPr>
              <a:t>Truss</a:t>
            </a:r>
            <a:r>
              <a:rPr sz="3200" b="0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0" spc="-10" dirty="0">
                <a:solidFill>
                  <a:srgbClr val="0000FF"/>
                </a:solidFill>
                <a:latin typeface="Calibri"/>
                <a:cs typeface="Calibri"/>
              </a:rPr>
              <a:t>Structures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3512" y="434340"/>
            <a:ext cx="11365230" cy="6024880"/>
            <a:chOff x="413512" y="434340"/>
            <a:chExt cx="11365230" cy="6024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512" y="434340"/>
              <a:ext cx="11364976" cy="60248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7012" y="480059"/>
              <a:ext cx="11238230" cy="5897880"/>
            </a:xfrm>
            <a:custGeom>
              <a:avLst/>
              <a:gdLst/>
              <a:ahLst/>
              <a:cxnLst/>
              <a:rect l="l" t="t" r="r" b="b"/>
              <a:pathLst>
                <a:path w="11238230" h="5897880">
                  <a:moveTo>
                    <a:pt x="11237976" y="5897879"/>
                  </a:moveTo>
                  <a:lnTo>
                    <a:pt x="0" y="5897879"/>
                  </a:lnTo>
                  <a:lnTo>
                    <a:pt x="0" y="0"/>
                  </a:lnTo>
                  <a:lnTo>
                    <a:pt x="11237976" y="0"/>
                  </a:lnTo>
                  <a:lnTo>
                    <a:pt x="11237976" y="58978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9572" y="1207708"/>
              <a:ext cx="7839299" cy="478197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41159" y="680352"/>
            <a:ext cx="16408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FF"/>
                </a:solidFill>
                <a:latin typeface="Calibri"/>
                <a:cs typeface="Calibri"/>
              </a:rPr>
              <a:t>Truss</a:t>
            </a:r>
            <a:r>
              <a:rPr b="0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FF"/>
                </a:solidFill>
                <a:latin typeface="Calibri"/>
                <a:cs typeface="Calibri"/>
              </a:rPr>
              <a:t>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0238" y="1449753"/>
            <a:ext cx="7716444" cy="479581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0893" rIns="0" bIns="0" rtlCol="0">
            <a:spAutoFit/>
          </a:bodyPr>
          <a:lstStyle/>
          <a:p>
            <a:pPr marL="393065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FF"/>
                </a:solidFill>
                <a:latin typeface="Calibri"/>
                <a:cs typeface="Calibri"/>
              </a:rPr>
              <a:t>Bridge</a:t>
            </a:r>
            <a:r>
              <a:rPr b="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FF"/>
                </a:solidFill>
                <a:latin typeface="Calibri"/>
                <a:cs typeface="Calibri"/>
              </a:rPr>
              <a:t>Truss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028" y="764500"/>
            <a:ext cx="10327114" cy="26644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7644" y="535576"/>
            <a:ext cx="2617950" cy="4308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5252" y="1011826"/>
            <a:ext cx="3539741" cy="3233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6875" y="1110342"/>
            <a:ext cx="7900189" cy="33963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3580" y="543802"/>
            <a:ext cx="8524591" cy="56038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075" y="1071936"/>
            <a:ext cx="8435501" cy="46395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9977" y="1187091"/>
            <a:ext cx="8748518" cy="43742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3512" y="434340"/>
            <a:ext cx="11365230" cy="6024880"/>
            <a:chOff x="413512" y="434340"/>
            <a:chExt cx="11365230" cy="6024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512" y="434340"/>
              <a:ext cx="11364976" cy="60248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7012" y="480059"/>
              <a:ext cx="11238230" cy="5897880"/>
            </a:xfrm>
            <a:custGeom>
              <a:avLst/>
              <a:gdLst/>
              <a:ahLst/>
              <a:cxnLst/>
              <a:rect l="l" t="t" r="r" b="b"/>
              <a:pathLst>
                <a:path w="11238230" h="5897880">
                  <a:moveTo>
                    <a:pt x="11237976" y="5897879"/>
                  </a:moveTo>
                  <a:lnTo>
                    <a:pt x="0" y="5897879"/>
                  </a:lnTo>
                  <a:lnTo>
                    <a:pt x="0" y="0"/>
                  </a:lnTo>
                  <a:lnTo>
                    <a:pt x="11237976" y="0"/>
                  </a:lnTo>
                  <a:lnTo>
                    <a:pt x="11237976" y="58978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7190" y="1281559"/>
              <a:ext cx="6877006" cy="45732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672" y="1491175"/>
            <a:ext cx="9273090" cy="21945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0855" y="703090"/>
            <a:ext cx="2033646" cy="380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1235" y="999925"/>
            <a:ext cx="7850700" cy="45286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679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solidFill>
                  <a:srgbClr val="0000FF"/>
                </a:solidFill>
                <a:latin typeface="Calibri"/>
                <a:cs typeface="Calibri"/>
              </a:rPr>
              <a:t>Representations</a:t>
            </a:r>
            <a:r>
              <a:rPr b="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b="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b="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FF"/>
                </a:solidFill>
                <a:latin typeface="Calibri"/>
                <a:cs typeface="Calibri"/>
              </a:rPr>
              <a:t>truss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1999" y="1523475"/>
            <a:ext cx="3626372" cy="40628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257" rIns="0" bIns="0" rtlCol="0">
            <a:spAutoFit/>
          </a:bodyPr>
          <a:lstStyle/>
          <a:p>
            <a:pPr marL="2822575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FF"/>
                </a:solidFill>
                <a:latin typeface="Calibri"/>
                <a:cs typeface="Calibri"/>
              </a:rPr>
              <a:t>Forces</a:t>
            </a:r>
            <a:r>
              <a:rPr b="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r>
              <a:rPr b="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FF"/>
                </a:solidFill>
                <a:latin typeface="Calibri"/>
                <a:cs typeface="Calibri"/>
              </a:rPr>
              <a:t>truss</a:t>
            </a:r>
            <a:r>
              <a:rPr b="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FF"/>
                </a:solidFill>
                <a:latin typeface="Calibri"/>
                <a:cs typeface="Calibri"/>
              </a:rPr>
              <a:t>members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2453" y="821429"/>
            <a:ext cx="4701710" cy="36218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95282" y="4768948"/>
            <a:ext cx="5299075" cy="1268095"/>
          </a:xfrm>
          <a:prstGeom prst="rect">
            <a:avLst/>
          </a:prstGeom>
          <a:ln w="28574">
            <a:solidFill>
              <a:srgbClr val="FF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86055" marR="130175">
              <a:lnSpc>
                <a:spcPct val="100000"/>
              </a:lnSpc>
              <a:spcBef>
                <a:spcPts val="200"/>
              </a:spcBef>
            </a:pPr>
            <a:r>
              <a:rPr sz="2400" dirty="0">
                <a:latin typeface="Calibri"/>
                <a:cs typeface="Calibri"/>
              </a:rPr>
              <a:t>Convention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followed-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force </a:t>
            </a:r>
            <a:r>
              <a:rPr sz="2400" dirty="0">
                <a:latin typeface="Calibri"/>
                <a:cs typeface="Calibri"/>
              </a:rPr>
              <a:t>away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joint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tension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and </a:t>
            </a:r>
            <a:r>
              <a:rPr sz="2400" dirty="0">
                <a:latin typeface="Calibri"/>
                <a:cs typeface="Calibri"/>
              </a:rPr>
              <a:t>towards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joint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compression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310" y="1000464"/>
            <a:ext cx="6746568" cy="155062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022" y="2854519"/>
            <a:ext cx="6648095" cy="44787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68112" y="764695"/>
            <a:ext cx="4153181" cy="26643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2021" y="3727058"/>
            <a:ext cx="3243712" cy="25050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921" y="1053593"/>
            <a:ext cx="7619667" cy="5182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467" y="645273"/>
            <a:ext cx="5291665" cy="55674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6865" y="1682928"/>
            <a:ext cx="5291666" cy="34921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053" y="734518"/>
            <a:ext cx="7835460" cy="367243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5050" y="2463109"/>
            <a:ext cx="5733002" cy="39033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3358" y="370599"/>
            <a:ext cx="4730431" cy="63374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7483" y="1225379"/>
            <a:ext cx="965390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Truss</a:t>
            </a:r>
            <a:r>
              <a:rPr sz="2800" b="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FF"/>
                </a:solidFill>
                <a:latin typeface="Calibri"/>
                <a:cs typeface="Calibri"/>
              </a:rPr>
              <a:t>connected</a:t>
            </a:r>
            <a:r>
              <a:rPr sz="2800" b="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800" b="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800" b="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wall</a:t>
            </a:r>
            <a:r>
              <a:rPr sz="2800" b="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or</a:t>
            </a:r>
            <a:r>
              <a:rPr sz="2800" b="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structure</a:t>
            </a:r>
            <a:r>
              <a:rPr sz="2800" b="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at</a:t>
            </a:r>
            <a:r>
              <a:rPr sz="2800" b="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one</a:t>
            </a:r>
            <a:r>
              <a:rPr sz="2800" b="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end</a:t>
            </a:r>
            <a:r>
              <a:rPr sz="2800" b="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800" b="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free</a:t>
            </a:r>
            <a:r>
              <a:rPr sz="2800" b="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at</a:t>
            </a:r>
            <a:r>
              <a:rPr sz="2800" b="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spc="-25" dirty="0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other</a:t>
            </a:r>
            <a:r>
              <a:rPr sz="2800" b="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spc="-20" dirty="0">
                <a:solidFill>
                  <a:srgbClr val="0000FF"/>
                </a:solidFill>
                <a:latin typeface="Calibri"/>
                <a:cs typeface="Calibri"/>
              </a:rPr>
              <a:t>end.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137" y="1885645"/>
            <a:ext cx="10290695" cy="415525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137" y="1885645"/>
            <a:ext cx="10290695" cy="41552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781" rIns="0" bIns="0" rtlCol="0">
            <a:spAutoFit/>
          </a:bodyPr>
          <a:lstStyle/>
          <a:p>
            <a:pPr marL="3705225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FF"/>
                </a:solidFill>
                <a:latin typeface="Calibri"/>
                <a:cs typeface="Calibri"/>
              </a:rPr>
              <a:t>Howrah</a:t>
            </a:r>
            <a:r>
              <a:rPr b="0" spc="-1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FF"/>
                </a:solidFill>
                <a:latin typeface="Calibri"/>
                <a:cs typeface="Calibri"/>
              </a:rPr>
              <a:t>Bridge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467" y="1506982"/>
            <a:ext cx="10798501" cy="35428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735" y="782534"/>
            <a:ext cx="6531703" cy="26464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1529" y="3942412"/>
            <a:ext cx="4054890" cy="225337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823" rIns="0" bIns="0" rtlCol="0">
            <a:spAutoFit/>
          </a:bodyPr>
          <a:lstStyle/>
          <a:p>
            <a:pPr marL="42037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00FF"/>
                </a:solidFill>
              </a:rPr>
              <a:t>Supports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3450" y="783772"/>
            <a:ext cx="9665833" cy="459771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9993" y="418011"/>
            <a:ext cx="6803390" cy="5737225"/>
            <a:chOff x="649993" y="418011"/>
            <a:chExt cx="6803390" cy="5737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993" y="418011"/>
              <a:ext cx="6803135" cy="526433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2333" y="5590903"/>
              <a:ext cx="2715151" cy="5640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040879" y="4075611"/>
              <a:ext cx="327025" cy="182880"/>
            </a:xfrm>
            <a:custGeom>
              <a:avLst/>
              <a:gdLst/>
              <a:ahLst/>
              <a:cxnLst/>
              <a:rect l="l" t="t" r="r" b="b"/>
              <a:pathLst>
                <a:path w="327025" h="182879">
                  <a:moveTo>
                    <a:pt x="91439" y="182880"/>
                  </a:moveTo>
                  <a:lnTo>
                    <a:pt x="0" y="91439"/>
                  </a:lnTo>
                  <a:lnTo>
                    <a:pt x="91439" y="0"/>
                  </a:lnTo>
                  <a:lnTo>
                    <a:pt x="91439" y="45719"/>
                  </a:lnTo>
                  <a:lnTo>
                    <a:pt x="326572" y="45719"/>
                  </a:lnTo>
                  <a:lnTo>
                    <a:pt x="326572" y="137159"/>
                  </a:lnTo>
                  <a:lnTo>
                    <a:pt x="91439" y="137159"/>
                  </a:lnTo>
                  <a:lnTo>
                    <a:pt x="91439" y="18288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40879" y="4075611"/>
              <a:ext cx="327025" cy="182880"/>
            </a:xfrm>
            <a:custGeom>
              <a:avLst/>
              <a:gdLst/>
              <a:ahLst/>
              <a:cxnLst/>
              <a:rect l="l" t="t" r="r" b="b"/>
              <a:pathLst>
                <a:path w="327025" h="182879">
                  <a:moveTo>
                    <a:pt x="0" y="91439"/>
                  </a:moveTo>
                  <a:lnTo>
                    <a:pt x="91439" y="0"/>
                  </a:lnTo>
                  <a:lnTo>
                    <a:pt x="91439" y="45719"/>
                  </a:lnTo>
                  <a:lnTo>
                    <a:pt x="326572" y="45719"/>
                  </a:lnTo>
                  <a:lnTo>
                    <a:pt x="326572" y="137159"/>
                  </a:lnTo>
                  <a:lnTo>
                    <a:pt x="91439" y="137159"/>
                  </a:lnTo>
                  <a:lnTo>
                    <a:pt x="91439" y="182880"/>
                  </a:lnTo>
                  <a:lnTo>
                    <a:pt x="0" y="91439"/>
                  </a:lnTo>
                  <a:close/>
                </a:path>
              </a:pathLst>
            </a:custGeom>
            <a:ln w="12699">
              <a:solidFill>
                <a:srgbClr val="3153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492727" y="1815882"/>
            <a:ext cx="4044950" cy="422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Under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action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horizontal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force,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truss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translates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whole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there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horizontal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restraints.</a:t>
            </a:r>
            <a:r>
              <a:rPr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However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there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no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deformation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its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members.</a:t>
            </a:r>
            <a:endParaRPr sz="2400">
              <a:latin typeface="Calibri"/>
              <a:cs typeface="Calibri"/>
            </a:endParaRPr>
          </a:p>
          <a:p>
            <a:pPr marL="168910" marR="523240">
              <a:lnSpc>
                <a:spcPct val="100000"/>
              </a:lnSpc>
              <a:spcBef>
                <a:spcPts val="1850"/>
              </a:spcBef>
            </a:pP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Equilibrium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equation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not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satisfied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85"/>
              </a:spcBef>
            </a:pPr>
            <a:endParaRPr sz="2400">
              <a:latin typeface="Calibri"/>
              <a:cs typeface="Calibri"/>
            </a:endParaRPr>
          </a:p>
          <a:p>
            <a:pPr marL="165100" marR="838835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We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call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such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 as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externally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unstable.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142" y="843473"/>
            <a:ext cx="7366917" cy="46559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414350" y="3618557"/>
            <a:ext cx="3864610" cy="2294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truss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externally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stable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as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equilibrium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equations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are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satisfied.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400">
              <a:latin typeface="Calibri"/>
              <a:cs typeface="Calibri"/>
            </a:endParaRPr>
          </a:p>
          <a:p>
            <a:pPr marL="99695" marR="203835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However</a:t>
            </a:r>
            <a:r>
              <a:rPr sz="24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its</a:t>
            </a:r>
            <a:r>
              <a:rPr sz="24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internal</a:t>
            </a:r>
            <a:r>
              <a:rPr sz="24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stability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needs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checked.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217" y="847675"/>
            <a:ext cx="6901165" cy="456034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266305" y="3474865"/>
            <a:ext cx="4137660" cy="2531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FBD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component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force</a:t>
            </a:r>
            <a:r>
              <a:rPr sz="2400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remains</a:t>
            </a:r>
            <a:r>
              <a:rPr sz="2400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unbalanced.</a:t>
            </a:r>
            <a:endParaRPr sz="2400">
              <a:latin typeface="Calibri"/>
              <a:cs typeface="Calibri"/>
            </a:endParaRPr>
          </a:p>
          <a:p>
            <a:pPr marL="173355" marR="25400">
              <a:lnSpc>
                <a:spcPct val="100000"/>
              </a:lnSpc>
              <a:tabLst>
                <a:tab pos="991235" algn="l"/>
              </a:tabLst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Hence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equilibrium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equation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satisfied.</a:t>
            </a:r>
            <a:endParaRPr sz="2400">
              <a:latin typeface="Calibri"/>
              <a:cs typeface="Calibri"/>
            </a:endParaRPr>
          </a:p>
          <a:p>
            <a:pPr marL="12700" marR="541020">
              <a:lnSpc>
                <a:spcPct val="100000"/>
              </a:lnSpc>
              <a:spcBef>
                <a:spcPts val="2450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truss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internally unstable.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615" y="621910"/>
            <a:ext cx="2549972" cy="3166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8568" y="268876"/>
            <a:ext cx="6555543" cy="55986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34237" y="5969871"/>
            <a:ext cx="2119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Truss</a:t>
            </a:r>
            <a:r>
              <a:rPr sz="24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unstable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642" y="418011"/>
            <a:ext cx="7577615" cy="50683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036" y="834912"/>
            <a:ext cx="8618784" cy="49558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59037" y="5984398"/>
            <a:ext cx="10408285" cy="408305"/>
            <a:chOff x="559037" y="5984398"/>
            <a:chExt cx="10408285" cy="40830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9037" y="6023586"/>
              <a:ext cx="8941323" cy="3688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38632" y="5984398"/>
              <a:ext cx="1828441" cy="36889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0775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Internal</a:t>
            </a:r>
            <a:r>
              <a:rPr sz="2800" b="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Stability</a:t>
            </a:r>
            <a:r>
              <a:rPr sz="2800" b="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criteria</a:t>
            </a:r>
            <a:r>
              <a:rPr sz="2800" b="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for</a:t>
            </a:r>
            <a:r>
              <a:rPr sz="2800" b="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800" b="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FF"/>
                </a:solidFill>
                <a:latin typeface="Calibri"/>
                <a:cs typeface="Calibri"/>
              </a:rPr>
              <a:t>planar</a:t>
            </a:r>
            <a:r>
              <a:rPr sz="2800" b="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FF"/>
                </a:solidFill>
                <a:latin typeface="Calibri"/>
                <a:cs typeface="Calibri"/>
              </a:rPr>
              <a:t>truss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06449" y="3192463"/>
            <a:ext cx="1640839" cy="584835"/>
          </a:xfrm>
          <a:custGeom>
            <a:avLst/>
            <a:gdLst/>
            <a:ahLst/>
            <a:cxnLst/>
            <a:rect l="l" t="t" r="r" b="b"/>
            <a:pathLst>
              <a:path w="1640839" h="584835">
                <a:moveTo>
                  <a:pt x="0" y="0"/>
                </a:moveTo>
                <a:lnTo>
                  <a:pt x="1640809" y="0"/>
                </a:lnTo>
                <a:lnTo>
                  <a:pt x="1640809" y="584406"/>
                </a:lnTo>
                <a:lnTo>
                  <a:pt x="0" y="584406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A95012E-C102-F3F1-948A-4378DA94CD07}"/>
              </a:ext>
            </a:extLst>
          </p:cNvPr>
          <p:cNvSpPr txBox="1"/>
          <p:nvPr/>
        </p:nvSpPr>
        <p:spPr>
          <a:xfrm>
            <a:off x="9372600" y="3429000"/>
            <a:ext cx="2260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Perfect Truss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375" y="1718467"/>
            <a:ext cx="8833463" cy="46375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513" y="632585"/>
            <a:ext cx="7430123" cy="8458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86921" y="225939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7184" y="223613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09568" y="363127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86620" y="368417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62261" y="373894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2439" y="302671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13287" y="230809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0597" y="227419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5228" y="2236137"/>
            <a:ext cx="9918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3545" algn="l"/>
                <a:tab pos="862965" algn="l"/>
              </a:tabLst>
            </a:pPr>
            <a:r>
              <a:rPr sz="1800" spc="-50" dirty="0">
                <a:latin typeface="Calibri"/>
                <a:cs typeface="Calibri"/>
              </a:rPr>
              <a:t>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52039" y="363631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82413" y="366115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82147" y="302036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79839" y="294098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18096" y="283569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19535" y="439700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09256" y="271808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91193" y="3211378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539339" y="3254805"/>
            <a:ext cx="443230" cy="421640"/>
            <a:chOff x="1539339" y="3254805"/>
            <a:chExt cx="443230" cy="421640"/>
          </a:xfrm>
        </p:grpSpPr>
        <p:sp>
          <p:nvSpPr>
            <p:cNvPr id="22" name="object 22"/>
            <p:cNvSpPr/>
            <p:nvPr/>
          </p:nvSpPr>
          <p:spPr>
            <a:xfrm>
              <a:off x="1575576" y="3302793"/>
              <a:ext cx="0" cy="365125"/>
            </a:xfrm>
            <a:custGeom>
              <a:avLst/>
              <a:gdLst/>
              <a:ahLst/>
              <a:cxnLst/>
              <a:rect l="l" t="t" r="r" b="b"/>
              <a:pathLst>
                <a:path h="365125">
                  <a:moveTo>
                    <a:pt x="0" y="365125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59844" y="325956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59844" y="325956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44101" y="3630472"/>
              <a:ext cx="391160" cy="25400"/>
            </a:xfrm>
            <a:custGeom>
              <a:avLst/>
              <a:gdLst/>
              <a:ahLst/>
              <a:cxnLst/>
              <a:rect l="l" t="t" r="r" b="b"/>
              <a:pathLst>
                <a:path w="391160" h="25400">
                  <a:moveTo>
                    <a:pt x="0" y="0"/>
                  </a:moveTo>
                  <a:lnTo>
                    <a:pt x="390545" y="2517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33635" y="3639949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399"/>
                  </a:moveTo>
                  <a:lnTo>
                    <a:pt x="2024" y="0"/>
                  </a:lnTo>
                  <a:lnTo>
                    <a:pt x="44147" y="18480"/>
                  </a:lnTo>
                  <a:lnTo>
                    <a:pt x="0" y="313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33635" y="3639949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399"/>
                  </a:moveTo>
                  <a:lnTo>
                    <a:pt x="44147" y="18480"/>
                  </a:lnTo>
                  <a:lnTo>
                    <a:pt x="2024" y="0"/>
                  </a:lnTo>
                  <a:lnTo>
                    <a:pt x="0" y="3139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612459" y="2601706"/>
            <a:ext cx="443230" cy="50800"/>
            <a:chOff x="1612459" y="2601706"/>
            <a:chExt cx="443230" cy="50800"/>
          </a:xfrm>
        </p:grpSpPr>
        <p:sp>
          <p:nvSpPr>
            <p:cNvPr id="29" name="object 29"/>
            <p:cNvSpPr/>
            <p:nvPr/>
          </p:nvSpPr>
          <p:spPr>
            <a:xfrm>
              <a:off x="1617222" y="2606469"/>
              <a:ext cx="391160" cy="25400"/>
            </a:xfrm>
            <a:custGeom>
              <a:avLst/>
              <a:gdLst/>
              <a:ahLst/>
              <a:cxnLst/>
              <a:rect l="l" t="t" r="r" b="b"/>
              <a:pathLst>
                <a:path w="391160" h="25400">
                  <a:moveTo>
                    <a:pt x="0" y="0"/>
                  </a:moveTo>
                  <a:lnTo>
                    <a:pt x="390545" y="2517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06755" y="2615945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400"/>
                  </a:moveTo>
                  <a:lnTo>
                    <a:pt x="2024" y="0"/>
                  </a:lnTo>
                  <a:lnTo>
                    <a:pt x="44147" y="18481"/>
                  </a:lnTo>
                  <a:lnTo>
                    <a:pt x="0" y="31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06755" y="2615945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0" y="31400"/>
                  </a:moveTo>
                  <a:lnTo>
                    <a:pt x="44147" y="18481"/>
                  </a:lnTo>
                  <a:lnTo>
                    <a:pt x="2024" y="0"/>
                  </a:lnTo>
                  <a:lnTo>
                    <a:pt x="0" y="3140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650633" y="1824975"/>
            <a:ext cx="1848485" cy="1389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" marR="45085" indent="-40640">
              <a:lnSpc>
                <a:spcPct val="115199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Reactions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joint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 </a:t>
            </a:r>
            <a:r>
              <a:rPr sz="1800" spc="-25" dirty="0">
                <a:latin typeface="Calibri"/>
                <a:cs typeface="Calibri"/>
              </a:rPr>
              <a:t>Rx</a:t>
            </a:r>
            <a:endParaRPr sz="1800">
              <a:latin typeface="Calibri"/>
              <a:cs typeface="Calibri"/>
            </a:endParaRPr>
          </a:p>
          <a:p>
            <a:pPr marL="79375" marR="5080" indent="-27305">
              <a:lnSpc>
                <a:spcPct val="128200"/>
              </a:lnSpc>
              <a:spcBef>
                <a:spcPts val="220"/>
              </a:spcBef>
            </a:pPr>
            <a:r>
              <a:rPr sz="1800" spc="-10" dirty="0">
                <a:latin typeface="Calibri"/>
                <a:cs typeface="Calibri"/>
              </a:rPr>
              <a:t>Reactions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joint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5 </a:t>
            </a:r>
            <a:r>
              <a:rPr sz="1800" dirty="0">
                <a:latin typeface="Calibri"/>
                <a:cs typeface="Calibri"/>
              </a:rPr>
              <a:t>Rx,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Ry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5801" y="831812"/>
            <a:ext cx="10217150" cy="1937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2060"/>
                </a:solidFill>
                <a:latin typeface="Calibri"/>
                <a:cs typeface="Calibri"/>
              </a:rPr>
              <a:t>External</a:t>
            </a:r>
            <a:r>
              <a:rPr sz="2400" spc="-5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2060"/>
                </a:solidFill>
                <a:latin typeface="Calibri"/>
                <a:cs typeface="Calibri"/>
              </a:rPr>
              <a:t>Indeterminacy</a:t>
            </a:r>
            <a:r>
              <a:rPr sz="2400" spc="-4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060"/>
                </a:solidFill>
                <a:latin typeface="Calibri"/>
                <a:cs typeface="Calibri"/>
              </a:rPr>
              <a:t>(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EI</a:t>
            </a:r>
            <a:r>
              <a:rPr sz="2400" dirty="0">
                <a:solidFill>
                  <a:srgbClr val="002060"/>
                </a:solidFill>
                <a:latin typeface="Calibri"/>
                <a:cs typeface="Calibri"/>
              </a:rPr>
              <a:t>)=</a:t>
            </a:r>
            <a:r>
              <a:rPr sz="2400" spc="-4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2400" i="1" spc="-4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060"/>
                </a:solidFill>
                <a:latin typeface="Calibri"/>
                <a:cs typeface="Calibri"/>
              </a:rPr>
              <a:t>-</a:t>
            </a:r>
            <a:r>
              <a:rPr sz="2400" spc="-4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2060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0"/>
              </a:spcBef>
              <a:tabLst>
                <a:tab pos="254635" algn="l"/>
              </a:tabLst>
            </a:pPr>
            <a:r>
              <a:rPr sz="2400" i="1" spc="-50" dirty="0">
                <a:latin typeface="Calibri"/>
                <a:cs typeface="Calibri"/>
              </a:rPr>
              <a:t>r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reactions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equilibrium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equations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2400">
              <a:latin typeface="Calibri"/>
              <a:cs typeface="Calibri"/>
            </a:endParaRPr>
          </a:p>
          <a:p>
            <a:pPr marL="116839">
              <a:lnSpc>
                <a:spcPct val="100000"/>
              </a:lnSpc>
            </a:pPr>
            <a:r>
              <a:rPr sz="2400" dirty="0">
                <a:solidFill>
                  <a:srgbClr val="002060"/>
                </a:solidFill>
                <a:latin typeface="Calibri"/>
                <a:cs typeface="Calibri"/>
              </a:rPr>
              <a:t>Internal</a:t>
            </a:r>
            <a:r>
              <a:rPr sz="2400" spc="-4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2060"/>
                </a:solidFill>
                <a:latin typeface="Calibri"/>
                <a:cs typeface="Calibri"/>
              </a:rPr>
              <a:t>Indeterminacy</a:t>
            </a:r>
            <a:r>
              <a:rPr sz="2400" spc="-4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060"/>
                </a:solidFill>
                <a:latin typeface="Calibri"/>
                <a:cs typeface="Calibri"/>
              </a:rPr>
              <a:t>(II)</a:t>
            </a:r>
            <a:r>
              <a:rPr sz="2400" spc="-4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060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m</a:t>
            </a:r>
            <a:r>
              <a:rPr sz="2400" i="1" spc="-4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+</a:t>
            </a:r>
            <a:r>
              <a:rPr sz="2400" i="1" spc="-4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r-</a:t>
            </a:r>
            <a:r>
              <a:rPr sz="2400" i="1" spc="-4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002060"/>
                </a:solidFill>
                <a:latin typeface="Calibri"/>
                <a:cs typeface="Calibri"/>
              </a:rPr>
              <a:t>2j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3435" y="3230880"/>
            <a:ext cx="7309484" cy="586105"/>
          </a:xfrm>
          <a:prstGeom prst="rect">
            <a:avLst/>
          </a:prstGeom>
          <a:ln w="28574">
            <a:solidFill>
              <a:srgbClr val="FF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204"/>
              </a:spcBef>
              <a:tabLst>
                <a:tab pos="879475" algn="l"/>
              </a:tabLst>
            </a:pPr>
            <a:r>
              <a:rPr sz="2400" spc="-10" dirty="0">
                <a:solidFill>
                  <a:srgbClr val="002060"/>
                </a:solidFill>
                <a:latin typeface="Calibri"/>
                <a:cs typeface="Calibri"/>
              </a:rPr>
              <a:t>Static</a:t>
            </a:r>
            <a:r>
              <a:rPr sz="2400" dirty="0">
                <a:solidFill>
                  <a:srgbClr val="002060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002060"/>
                </a:solidFill>
                <a:latin typeface="Calibri"/>
                <a:cs typeface="Calibri"/>
              </a:rPr>
              <a:t>Indeterminacy</a:t>
            </a:r>
            <a:r>
              <a:rPr sz="2400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060"/>
                </a:solidFill>
                <a:latin typeface="Calibri"/>
                <a:cs typeface="Calibri"/>
              </a:rPr>
              <a:t>(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EI</a:t>
            </a:r>
            <a:r>
              <a:rPr sz="2400" i="1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+</a:t>
            </a:r>
            <a:r>
              <a:rPr sz="2400" i="1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II</a:t>
            </a:r>
            <a:r>
              <a:rPr sz="2400" dirty="0">
                <a:solidFill>
                  <a:srgbClr val="002060"/>
                </a:solidFill>
                <a:latin typeface="Calibri"/>
                <a:cs typeface="Calibri"/>
              </a:rPr>
              <a:t>)</a:t>
            </a:r>
            <a:r>
              <a:rPr sz="2400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060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m</a:t>
            </a:r>
            <a:r>
              <a:rPr sz="2400" i="1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+</a:t>
            </a:r>
            <a:r>
              <a:rPr sz="2400" i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2400" i="1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2060"/>
                </a:solidFill>
                <a:latin typeface="Calibri"/>
                <a:cs typeface="Calibri"/>
              </a:rPr>
              <a:t>-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2j</a:t>
            </a:r>
            <a:r>
              <a:rPr sz="2400" i="1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+</a:t>
            </a:r>
            <a:r>
              <a:rPr sz="2400" i="1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2400" i="1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2060"/>
                </a:solidFill>
                <a:latin typeface="Calibri"/>
                <a:cs typeface="Calibri"/>
              </a:rPr>
              <a:t>-</a:t>
            </a:r>
            <a:r>
              <a:rPr sz="2400" i="1" dirty="0">
                <a:solidFill>
                  <a:srgbClr val="002060"/>
                </a:solidFill>
                <a:latin typeface="Calibri"/>
                <a:cs typeface="Calibri"/>
              </a:rPr>
              <a:t>3</a:t>
            </a:r>
            <a:r>
              <a:rPr sz="2400" i="1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060"/>
                </a:solidFill>
                <a:latin typeface="Calibri"/>
                <a:cs typeface="Calibri"/>
              </a:rPr>
              <a:t>=</a:t>
            </a:r>
            <a:r>
              <a:rPr sz="2400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sz="2400" b="1" i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2400" b="1" i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r>
              <a:rPr sz="2400" b="1" i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00FF"/>
                </a:solidFill>
                <a:latin typeface="Calibri"/>
                <a:cs typeface="Calibri"/>
              </a:rPr>
              <a:t>-</a:t>
            </a:r>
            <a:r>
              <a:rPr sz="2400" b="1" i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0000FF"/>
                </a:solidFill>
                <a:latin typeface="Calibri"/>
                <a:cs typeface="Calibri"/>
              </a:rPr>
              <a:t>2j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6460" y="4168735"/>
            <a:ext cx="7679055" cy="172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3665" algn="l"/>
              </a:tabLst>
            </a:pPr>
            <a:r>
              <a:rPr sz="2400" b="1" dirty="0">
                <a:solidFill>
                  <a:srgbClr val="002060"/>
                </a:solidFill>
                <a:latin typeface="Calibri"/>
                <a:cs typeface="Calibri"/>
              </a:rPr>
              <a:t>Degree</a:t>
            </a:r>
            <a:r>
              <a:rPr sz="2400" b="1" spc="-10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2060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002060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002060"/>
                </a:solidFill>
                <a:latin typeface="Calibri"/>
                <a:cs typeface="Calibri"/>
              </a:rPr>
              <a:t>Indeterminacy</a:t>
            </a:r>
            <a:r>
              <a:rPr sz="2400" b="1" spc="-4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Calibri"/>
                <a:cs typeface="Calibri"/>
              </a:rPr>
              <a:t>(</a:t>
            </a:r>
            <a:r>
              <a:rPr sz="2400" b="1" i="1" dirty="0">
                <a:solidFill>
                  <a:srgbClr val="002060"/>
                </a:solidFill>
                <a:latin typeface="Calibri"/>
                <a:cs typeface="Calibri"/>
              </a:rPr>
              <a:t>DI</a:t>
            </a:r>
            <a:r>
              <a:rPr sz="2400" b="1" dirty="0">
                <a:solidFill>
                  <a:srgbClr val="002060"/>
                </a:solidFill>
                <a:latin typeface="Calibri"/>
                <a:cs typeface="Calibri"/>
              </a:rPr>
              <a:t>)</a:t>
            </a:r>
            <a:r>
              <a:rPr sz="2400" b="1" spc="-3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060"/>
                </a:solidFill>
                <a:latin typeface="Calibri"/>
                <a:cs typeface="Calibri"/>
              </a:rPr>
              <a:t>=</a:t>
            </a:r>
            <a:r>
              <a:rPr sz="2400" spc="-3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Calibri"/>
                <a:cs typeface="Calibri"/>
              </a:rPr>
              <a:t>Total</a:t>
            </a:r>
            <a:r>
              <a:rPr sz="2400" b="1" spc="-4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Calibri"/>
                <a:cs typeface="Calibri"/>
              </a:rPr>
              <a:t>Number</a:t>
            </a:r>
            <a:r>
              <a:rPr sz="2400" b="1" spc="-4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Calibri"/>
                <a:cs typeface="Calibri"/>
              </a:rPr>
              <a:t>of</a:t>
            </a:r>
            <a:r>
              <a:rPr sz="2400" b="1" spc="-3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Calibri"/>
                <a:cs typeface="Calibri"/>
              </a:rPr>
              <a:t>unknowns</a:t>
            </a:r>
            <a:r>
              <a:rPr sz="2400" b="1" spc="-4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2060"/>
                </a:solidFill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  <a:p>
            <a:pPr marL="3938904">
              <a:lnSpc>
                <a:spcPct val="100000"/>
              </a:lnSpc>
            </a:pPr>
            <a:r>
              <a:rPr sz="2400" b="1" dirty="0">
                <a:solidFill>
                  <a:srgbClr val="002060"/>
                </a:solidFill>
                <a:latin typeface="Calibri"/>
                <a:cs typeface="Calibri"/>
              </a:rPr>
              <a:t>Total</a:t>
            </a:r>
            <a:r>
              <a:rPr sz="2400" b="1" spc="-5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Calibri"/>
                <a:cs typeface="Calibri"/>
              </a:rPr>
              <a:t>number</a:t>
            </a:r>
            <a:r>
              <a:rPr sz="2400" b="1" spc="-4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2060"/>
                </a:solidFill>
                <a:latin typeface="Calibri"/>
                <a:cs typeface="Calibri"/>
              </a:rPr>
              <a:t>equations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85"/>
              </a:spcBef>
            </a:pPr>
            <a:endParaRPr sz="2400">
              <a:latin typeface="Calibri"/>
              <a:cs typeface="Calibri"/>
            </a:endParaRPr>
          </a:p>
          <a:p>
            <a:pPr marL="9461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Statically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Determinate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00FF"/>
                </a:solidFill>
                <a:latin typeface="Calibri"/>
                <a:cs typeface="Calibri"/>
              </a:rPr>
              <a:t>DI</a:t>
            </a:r>
            <a:r>
              <a:rPr sz="2400" i="1" spc="-1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r>
              <a:rPr sz="1800" spc="-25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3585" y="692332"/>
            <a:ext cx="7307533" cy="56806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626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solidFill>
                  <a:srgbClr val="0000FF"/>
                </a:solidFill>
                <a:latin typeface="Calibri"/>
                <a:cs typeface="Calibri"/>
              </a:rPr>
              <a:t>Examples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1351" y="653142"/>
            <a:ext cx="8058884" cy="522514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6226" y="383176"/>
            <a:ext cx="5097732" cy="28302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7245" y="3716654"/>
            <a:ext cx="3074529" cy="25128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68732" y="4074251"/>
            <a:ext cx="2290716" cy="8504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1974" y="578440"/>
            <a:ext cx="4524374" cy="31146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64418" y="5499608"/>
            <a:ext cx="2119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Truss</a:t>
            </a:r>
            <a:r>
              <a:rPr sz="24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unstable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60766" y="4232366"/>
            <a:ext cx="2312670" cy="862330"/>
          </a:xfrm>
          <a:custGeom>
            <a:avLst/>
            <a:gdLst/>
            <a:ahLst/>
            <a:cxnLst/>
            <a:rect l="l" t="t" r="r" b="b"/>
            <a:pathLst>
              <a:path w="2312670" h="862329">
                <a:moveTo>
                  <a:pt x="0" y="0"/>
                </a:moveTo>
                <a:lnTo>
                  <a:pt x="2312124" y="0"/>
                </a:lnTo>
                <a:lnTo>
                  <a:pt x="2312124" y="862147"/>
                </a:lnTo>
                <a:lnTo>
                  <a:pt x="0" y="862147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27860" y="3422613"/>
            <a:ext cx="528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FF"/>
                </a:solidFill>
                <a:latin typeface="Calibri"/>
                <a:cs typeface="Calibri"/>
              </a:rPr>
              <a:t>FBD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6731" y="445483"/>
            <a:ext cx="8574316" cy="531523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666B748-CBFA-1D21-6DA1-0525B878E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1000"/>
            <a:ext cx="9050902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470440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977CA53-131F-8759-8C7B-C9F1919C2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400"/>
            <a:ext cx="8769371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142068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0759" y="643466"/>
            <a:ext cx="9170480" cy="557106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309" y="703384"/>
            <a:ext cx="8672202" cy="240557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4987" y="661182"/>
            <a:ext cx="11101070" cy="5585460"/>
            <a:chOff x="344987" y="661182"/>
            <a:chExt cx="11101070" cy="5585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987" y="1237958"/>
              <a:ext cx="5334468" cy="16881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9505" y="661182"/>
              <a:ext cx="5925932" cy="558487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026" rIns="0" bIns="0" rtlCol="0">
            <a:spAutoFit/>
          </a:bodyPr>
          <a:lstStyle/>
          <a:p>
            <a:pPr marL="39243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solidFill>
                  <a:srgbClr val="0000FF"/>
                </a:solidFill>
                <a:latin typeface="Calibri"/>
                <a:cs typeface="Calibri"/>
              </a:rPr>
              <a:t>Examples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507" y="465400"/>
            <a:ext cx="7873611" cy="51109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86180" y="609102"/>
            <a:ext cx="9095105" cy="6017895"/>
            <a:chOff x="1086180" y="609102"/>
            <a:chExt cx="9095105" cy="6017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8538" y="829816"/>
              <a:ext cx="7867914" cy="34590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6854" y="4200600"/>
              <a:ext cx="7529598" cy="18557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05230" y="628152"/>
              <a:ext cx="9057005" cy="5979795"/>
            </a:xfrm>
            <a:custGeom>
              <a:avLst/>
              <a:gdLst/>
              <a:ahLst/>
              <a:cxnLst/>
              <a:rect l="l" t="t" r="r" b="b"/>
              <a:pathLst>
                <a:path w="9057005" h="5979795">
                  <a:moveTo>
                    <a:pt x="0" y="0"/>
                  </a:moveTo>
                  <a:lnTo>
                    <a:pt x="9056536" y="0"/>
                  </a:lnTo>
                  <a:lnTo>
                    <a:pt x="9056536" y="5979381"/>
                  </a:lnTo>
                  <a:lnTo>
                    <a:pt x="0" y="5979381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8548" y="878969"/>
            <a:ext cx="8222977" cy="55710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959" rIns="0" bIns="0" rtlCol="0">
            <a:spAutoFit/>
          </a:bodyPr>
          <a:lstStyle/>
          <a:p>
            <a:pPr marL="349885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FF"/>
                </a:solidFill>
                <a:latin typeface="Calibri"/>
                <a:cs typeface="Calibri"/>
              </a:rPr>
              <a:t>Illustrative</a:t>
            </a:r>
            <a:r>
              <a:rPr b="0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FF"/>
                </a:solidFill>
                <a:latin typeface="Calibri"/>
                <a:cs typeface="Calibri"/>
              </a:rPr>
              <a:t>example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766" y="404733"/>
            <a:ext cx="11315065" cy="4679950"/>
            <a:chOff x="359766" y="404733"/>
            <a:chExt cx="11315065" cy="4679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766" y="404733"/>
              <a:ext cx="7107836" cy="46793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3337" y="439815"/>
              <a:ext cx="5331498" cy="263826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485506" y="332704"/>
            <a:ext cx="1422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Calibri"/>
                <a:cs typeface="Calibri"/>
              </a:rPr>
              <a:t>F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27555" y="332704"/>
            <a:ext cx="149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8570" y="576775"/>
            <a:ext cx="9094465" cy="566681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861" y="978108"/>
            <a:ext cx="8359002" cy="490178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69025" y="641956"/>
            <a:ext cx="1422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Calibri"/>
                <a:cs typeface="Calibri"/>
              </a:rPr>
              <a:t>F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47958" y="641956"/>
            <a:ext cx="149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5052" y="659567"/>
            <a:ext cx="8863187" cy="544142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531" y="539646"/>
            <a:ext cx="8947186" cy="529152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910" y="707746"/>
            <a:ext cx="8120593" cy="469424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258" y="970613"/>
            <a:ext cx="8639698" cy="491677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455" y="848120"/>
            <a:ext cx="9544060" cy="516175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84823" y="1294171"/>
            <a:ext cx="3516629" cy="4605020"/>
            <a:chOff x="1084823" y="1294171"/>
            <a:chExt cx="3516629" cy="4605020"/>
          </a:xfrm>
        </p:grpSpPr>
        <p:sp>
          <p:nvSpPr>
            <p:cNvPr id="3" name="object 3"/>
            <p:cNvSpPr/>
            <p:nvPr/>
          </p:nvSpPr>
          <p:spPr>
            <a:xfrm>
              <a:off x="3738201" y="1570813"/>
              <a:ext cx="0" cy="3710304"/>
            </a:xfrm>
            <a:custGeom>
              <a:avLst/>
              <a:gdLst/>
              <a:ahLst/>
              <a:cxnLst/>
              <a:rect l="l" t="t" r="r" b="b"/>
              <a:pathLst>
                <a:path h="3710304">
                  <a:moveTo>
                    <a:pt x="0" y="0"/>
                  </a:moveTo>
                  <a:lnTo>
                    <a:pt x="0" y="3710226"/>
                  </a:lnTo>
                </a:path>
              </a:pathLst>
            </a:custGeom>
            <a:ln w="19049">
              <a:solidFill>
                <a:srgbClr val="D45B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823" y="1294171"/>
              <a:ext cx="3516124" cy="460479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6759" y="1375942"/>
            <a:ext cx="4833708" cy="247652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670" rIns="0" bIns="0" rtlCol="0">
            <a:spAutoFit/>
          </a:bodyPr>
          <a:lstStyle/>
          <a:p>
            <a:pPr marL="1942464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FF"/>
                </a:solidFill>
                <a:latin typeface="Calibri"/>
                <a:cs typeface="Calibri"/>
              </a:rPr>
              <a:t>Final</a:t>
            </a:r>
            <a:r>
              <a:rPr b="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FF"/>
                </a:solidFill>
                <a:latin typeface="Calibri"/>
                <a:cs typeface="Calibri"/>
              </a:rPr>
              <a:t>Results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5175" y="144613"/>
            <a:ext cx="10852785" cy="6038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spc="-10" dirty="0">
                <a:latin typeface="Calibri"/>
                <a:cs typeface="Calibri"/>
              </a:rPr>
              <a:t>Example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truss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hinged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supported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rollers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inclined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45°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horizontal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loaded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shown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Fig.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12.33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7989" y="1667018"/>
            <a:ext cx="4512069" cy="34937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5702" y="5547805"/>
            <a:ext cx="276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reactions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D</a:t>
            </a:r>
            <a:r>
              <a:rPr sz="1800" spc="-25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713" y="712055"/>
            <a:ext cx="4881696" cy="44980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254" y="5414838"/>
            <a:ext cx="5396890" cy="119653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966729" y="470475"/>
            <a:ext cx="4017645" cy="5084445"/>
            <a:chOff x="6966729" y="470475"/>
            <a:chExt cx="4017645" cy="508444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6729" y="470475"/>
              <a:ext cx="3993320" cy="30920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27643" y="3562526"/>
              <a:ext cx="2343730" cy="199217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271464" y="2622037"/>
              <a:ext cx="0" cy="375285"/>
            </a:xfrm>
            <a:custGeom>
              <a:avLst/>
              <a:gdLst/>
              <a:ahLst/>
              <a:cxnLst/>
              <a:rect l="l" t="t" r="r" b="b"/>
              <a:pathLst>
                <a:path h="375285">
                  <a:moveTo>
                    <a:pt x="0" y="375081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89482" y="2430086"/>
              <a:ext cx="163962" cy="21100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605050" y="2545837"/>
              <a:ext cx="379730" cy="0"/>
            </a:xfrm>
            <a:custGeom>
              <a:avLst/>
              <a:gdLst/>
              <a:ahLst/>
              <a:cxnLst/>
              <a:rect l="l" t="t" r="r" b="b"/>
              <a:pathLst>
                <a:path w="379729">
                  <a:moveTo>
                    <a:pt x="379329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13098" y="2463857"/>
              <a:ext cx="211001" cy="163962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00FF"/>
                </a:solidFill>
              </a:rPr>
              <a:t>Solution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1474" y="189473"/>
            <a:ext cx="10757535" cy="6296025"/>
            <a:chOff x="581474" y="189473"/>
            <a:chExt cx="10757535" cy="62960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474" y="189473"/>
              <a:ext cx="8683523" cy="37479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" y="3953020"/>
              <a:ext cx="5288144" cy="25321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8596" y="4164036"/>
              <a:ext cx="4979962" cy="120032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019124" y="3801076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3943" y="643466"/>
            <a:ext cx="8284113" cy="55710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0000FF"/>
                </a:solidFill>
                <a:latin typeface="Calibri"/>
                <a:cs typeface="Calibri"/>
              </a:rPr>
              <a:t>Illustrative</a:t>
            </a:r>
            <a:r>
              <a:rPr b="0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0000FF"/>
                </a:solidFill>
                <a:latin typeface="Calibri"/>
                <a:cs typeface="Calibri"/>
              </a:rPr>
              <a:t>example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808" y="875063"/>
            <a:ext cx="9181968" cy="533946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4020" y="643466"/>
            <a:ext cx="8162007" cy="4989861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9736" y="3043003"/>
            <a:ext cx="8264058" cy="305752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61618" y="464695"/>
            <a:ext cx="8376920" cy="2578735"/>
            <a:chOff x="1461618" y="464695"/>
            <a:chExt cx="8376920" cy="257873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1618" y="464695"/>
              <a:ext cx="8376834" cy="23384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7855" y="2419349"/>
              <a:ext cx="3741922" cy="6236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5175" y="144613"/>
            <a:ext cx="10852785" cy="6038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spc="-10" dirty="0">
                <a:latin typeface="Calibri"/>
                <a:cs typeface="Calibri"/>
              </a:rPr>
              <a:t>Example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truss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hinged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supported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rollers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inclined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45°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horizontal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loaded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shown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Fig.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12.33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7989" y="1667018"/>
            <a:ext cx="4512069" cy="34937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5702" y="5547805"/>
            <a:ext cx="276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reactions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D</a:t>
            </a:r>
            <a:r>
              <a:rPr sz="1800" spc="-25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713" y="712055"/>
            <a:ext cx="4881696" cy="44980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254" y="5414838"/>
            <a:ext cx="5396890" cy="119653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909291" y="470475"/>
            <a:ext cx="3993515" cy="5084445"/>
            <a:chOff x="6909291" y="470475"/>
            <a:chExt cx="3993515" cy="508444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09291" y="470475"/>
              <a:ext cx="3993321" cy="30920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27643" y="3562526"/>
              <a:ext cx="2343730" cy="199217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00FF"/>
                </a:solidFill>
              </a:rPr>
              <a:t>Solution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0120" y="2384516"/>
            <a:ext cx="6022174" cy="34545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132" y="405765"/>
            <a:ext cx="9690127" cy="174960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405" y="673283"/>
            <a:ext cx="4109346" cy="2357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76545" y="679413"/>
            <a:ext cx="2446020" cy="1005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  <a:tabLst>
                <a:tab pos="1627505" algn="l"/>
              </a:tabLst>
            </a:pPr>
            <a:r>
              <a:rPr sz="2400" dirty="0">
                <a:latin typeface="Calibri"/>
                <a:cs typeface="Calibri"/>
              </a:rPr>
              <a:t>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21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3600" baseline="1157" dirty="0">
                <a:latin typeface="Calibri"/>
                <a:cs typeface="Calibri"/>
              </a:rPr>
              <a:t>r</a:t>
            </a:r>
            <a:r>
              <a:rPr sz="3600" spc="-30" baseline="1157" dirty="0">
                <a:latin typeface="Calibri"/>
                <a:cs typeface="Calibri"/>
              </a:rPr>
              <a:t> </a:t>
            </a:r>
            <a:r>
              <a:rPr sz="3600" baseline="1157" dirty="0">
                <a:latin typeface="Calibri"/>
                <a:cs typeface="Calibri"/>
              </a:rPr>
              <a:t>=</a:t>
            </a:r>
            <a:r>
              <a:rPr sz="3600" spc="-22" baseline="1157" dirty="0">
                <a:latin typeface="Calibri"/>
                <a:cs typeface="Calibri"/>
              </a:rPr>
              <a:t> </a:t>
            </a:r>
            <a:r>
              <a:rPr sz="3600" spc="-75" baseline="1157" dirty="0">
                <a:latin typeface="Calibri"/>
                <a:cs typeface="Calibri"/>
              </a:rPr>
              <a:t>4</a:t>
            </a:r>
            <a:endParaRPr sz="3600" baseline="1157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  <a:tabLst>
                <a:tab pos="788670" algn="l"/>
              </a:tabLst>
            </a:pPr>
            <a:r>
              <a:rPr sz="2400" dirty="0">
                <a:latin typeface="Calibri"/>
                <a:cs typeface="Calibri"/>
              </a:rPr>
              <a:t>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	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25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2j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80556" y="505242"/>
            <a:ext cx="2932430" cy="1140460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264795">
              <a:lnSpc>
                <a:spcPct val="100000"/>
              </a:lnSpc>
              <a:spcBef>
                <a:spcPts val="1605"/>
              </a:spcBef>
            </a:pPr>
            <a:r>
              <a:rPr sz="2400" dirty="0">
                <a:latin typeface="Calibri"/>
                <a:cs typeface="Calibri"/>
              </a:rPr>
              <a:t>j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(Indeterminate</a:t>
            </a:r>
            <a:r>
              <a:rPr sz="24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system)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4476" y="1828944"/>
            <a:ext cx="5242560" cy="3574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Horizontal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forces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neglected.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Thus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system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pin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roller.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50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73660" algn="just">
              <a:lnSpc>
                <a:spcPct val="100000"/>
              </a:lnSpc>
              <a:spcBef>
                <a:spcPts val="1814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24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2j</a:t>
            </a:r>
            <a:endParaRPr sz="2400">
              <a:latin typeface="Calibri"/>
              <a:cs typeface="Calibri"/>
            </a:endParaRPr>
          </a:p>
          <a:p>
            <a:pPr marL="116839" marR="868044" indent="-104775" algn="just">
              <a:lnSpc>
                <a:spcPts val="4220"/>
              </a:lnSpc>
              <a:spcBef>
                <a:spcPts val="190"/>
              </a:spcBef>
            </a:pPr>
            <a:r>
              <a:rPr sz="2400" dirty="0">
                <a:latin typeface="Calibri"/>
                <a:cs typeface="Calibri"/>
              </a:rPr>
              <a:t>Taking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53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sz="2400" b="1" i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0000FF"/>
                </a:solidFill>
                <a:latin typeface="Calibri"/>
                <a:cs typeface="Calibri"/>
              </a:rPr>
              <a:t>Ay </a:t>
            </a:r>
            <a:r>
              <a:rPr sz="2400" i="1" dirty="0">
                <a:solidFill>
                  <a:srgbClr val="0000FF"/>
                </a:solidFill>
                <a:latin typeface="Calibri"/>
                <a:cs typeface="Calibri"/>
              </a:rPr>
              <a:t>Ay*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24</a:t>
            </a:r>
            <a:r>
              <a:rPr sz="2400" spc="50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400" spc="5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10*8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10*16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10*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20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2400">
              <a:latin typeface="Calibri"/>
              <a:cs typeface="Calibri"/>
            </a:endParaRPr>
          </a:p>
          <a:p>
            <a:pPr marL="112395" algn="just">
              <a:lnSpc>
                <a:spcPct val="100000"/>
              </a:lnSpc>
            </a:pPr>
            <a:r>
              <a:rPr sz="2400" i="1" dirty="0">
                <a:solidFill>
                  <a:srgbClr val="0000FF"/>
                </a:solidFill>
                <a:latin typeface="Calibri"/>
                <a:cs typeface="Calibri"/>
              </a:rPr>
              <a:t>Ay</a:t>
            </a:r>
            <a:r>
              <a:rPr sz="2400" i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400" spc="5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18.33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kN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656" y="438151"/>
            <a:ext cx="4405380" cy="252711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197" y="3147059"/>
            <a:ext cx="4288293" cy="228708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58609" y="431219"/>
            <a:ext cx="5599430" cy="414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00"/>
              </a:spcBef>
              <a:tabLst>
                <a:tab pos="1132205" algn="l"/>
              </a:tabLst>
            </a:pP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Section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	1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2435"/>
              </a:spcBef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Σ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MA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60325" marR="1529715" indent="-48260">
              <a:lnSpc>
                <a:spcPct val="163100"/>
              </a:lnSpc>
              <a:spcBef>
                <a:spcPts val="105"/>
              </a:spcBef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0.707*F_CJ*12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10*4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-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10*8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0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F_CJ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14.14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kN</a:t>
            </a:r>
            <a:endParaRPr sz="2400">
              <a:latin typeface="Calibri"/>
              <a:cs typeface="Calibri"/>
            </a:endParaRPr>
          </a:p>
          <a:p>
            <a:pPr marL="112395">
              <a:lnSpc>
                <a:spcPct val="100000"/>
              </a:lnSpc>
              <a:spcBef>
                <a:spcPts val="1780"/>
              </a:spcBef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Σ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MJ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16510" marR="5080" indent="82550">
              <a:lnSpc>
                <a:spcPts val="5210"/>
              </a:lnSpc>
              <a:spcBef>
                <a:spcPts val="55"/>
              </a:spcBef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0.894*F_CD*6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18.33*12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10*4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10*8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0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F_CD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-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18.63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kN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36986" y="4955712"/>
            <a:ext cx="2285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78685" algn="l"/>
              </a:tabLst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F_CD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18.63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kN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05449" y="4955712"/>
            <a:ext cx="1638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Compression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312" y="648516"/>
            <a:ext cx="4297926" cy="23036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28350" y="483470"/>
            <a:ext cx="1381125" cy="10140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2990" algn="l"/>
              </a:tabLst>
            </a:pP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Section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	2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  <a:spcBef>
                <a:spcPts val="2020"/>
              </a:spcBef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Σ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MG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8929" y="2704548"/>
            <a:ext cx="7038975" cy="1223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12*F_DJ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10*16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+10*20-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18.33*24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–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14.14*0.707*12=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F_DJ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16.67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kN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9291" y="553803"/>
            <a:ext cx="7549747" cy="53333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823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solidFill>
                  <a:srgbClr val="0000FF"/>
                </a:solidFill>
                <a:latin typeface="Calibri"/>
                <a:cs typeface="Calibri"/>
              </a:rPr>
              <a:t>Example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864" y="643466"/>
            <a:ext cx="7708393" cy="53956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069" y="417044"/>
            <a:ext cx="3327094" cy="33429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1092630"/>
            <a:ext cx="4173028" cy="528492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41275" y="3862075"/>
            <a:ext cx="4187825" cy="2182495"/>
            <a:chOff x="741275" y="3862075"/>
            <a:chExt cx="4187825" cy="218249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5580" y="3862075"/>
              <a:ext cx="1492708" cy="7882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1275" y="4587274"/>
              <a:ext cx="4187311" cy="8717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5799" y="5477652"/>
              <a:ext cx="1945599" cy="566827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2006972" y="636587"/>
            <a:ext cx="137160" cy="426084"/>
            <a:chOff x="2006972" y="636587"/>
            <a:chExt cx="137160" cy="426084"/>
          </a:xfrm>
        </p:grpSpPr>
        <p:sp>
          <p:nvSpPr>
            <p:cNvPr id="9" name="object 9"/>
            <p:cNvSpPr/>
            <p:nvPr/>
          </p:nvSpPr>
          <p:spPr>
            <a:xfrm>
              <a:off x="2075289" y="636587"/>
              <a:ext cx="0" cy="266065"/>
            </a:xfrm>
            <a:custGeom>
              <a:avLst/>
              <a:gdLst/>
              <a:ahLst/>
              <a:cxnLst/>
              <a:rect l="l" t="t" r="r" b="b"/>
              <a:pathLst>
                <a:path h="266065">
                  <a:moveTo>
                    <a:pt x="0" y="0"/>
                  </a:moveTo>
                  <a:lnTo>
                    <a:pt x="0" y="265542"/>
                  </a:lnTo>
                </a:path>
              </a:pathLst>
            </a:custGeom>
            <a:ln w="317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06972" y="886255"/>
              <a:ext cx="136635" cy="175834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3762030" y="636587"/>
            <a:ext cx="137160" cy="426084"/>
            <a:chOff x="3762030" y="636587"/>
            <a:chExt cx="137160" cy="426084"/>
          </a:xfrm>
        </p:grpSpPr>
        <p:sp>
          <p:nvSpPr>
            <p:cNvPr id="12" name="object 12"/>
            <p:cNvSpPr/>
            <p:nvPr/>
          </p:nvSpPr>
          <p:spPr>
            <a:xfrm>
              <a:off x="3830347" y="636587"/>
              <a:ext cx="0" cy="266065"/>
            </a:xfrm>
            <a:custGeom>
              <a:avLst/>
              <a:gdLst/>
              <a:ahLst/>
              <a:cxnLst/>
              <a:rect l="l" t="t" r="r" b="b"/>
              <a:pathLst>
                <a:path h="266065">
                  <a:moveTo>
                    <a:pt x="0" y="0"/>
                  </a:moveTo>
                  <a:lnTo>
                    <a:pt x="0" y="265542"/>
                  </a:lnTo>
                </a:path>
              </a:pathLst>
            </a:custGeom>
            <a:ln w="317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62030" y="886255"/>
              <a:ext cx="136634" cy="17583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402385" y="1024313"/>
            <a:ext cx="553720" cy="137160"/>
            <a:chOff x="1402385" y="1024313"/>
            <a:chExt cx="553720" cy="137160"/>
          </a:xfrm>
        </p:grpSpPr>
        <p:sp>
          <p:nvSpPr>
            <p:cNvPr id="15" name="object 15"/>
            <p:cNvSpPr/>
            <p:nvPr/>
          </p:nvSpPr>
          <p:spPr>
            <a:xfrm>
              <a:off x="1402385" y="1092631"/>
              <a:ext cx="393700" cy="0"/>
            </a:xfrm>
            <a:custGeom>
              <a:avLst/>
              <a:gdLst/>
              <a:ahLst/>
              <a:cxnLst/>
              <a:rect l="l" t="t" r="r" b="b"/>
              <a:pathLst>
                <a:path w="393700">
                  <a:moveTo>
                    <a:pt x="0" y="0"/>
                  </a:moveTo>
                  <a:lnTo>
                    <a:pt x="393230" y="0"/>
                  </a:lnTo>
                </a:path>
              </a:pathLst>
            </a:custGeom>
            <a:ln w="317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9741" y="1024313"/>
              <a:ext cx="175834" cy="136634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402385" y="2287758"/>
            <a:ext cx="553720" cy="137160"/>
            <a:chOff x="1402385" y="2287758"/>
            <a:chExt cx="553720" cy="137160"/>
          </a:xfrm>
        </p:grpSpPr>
        <p:sp>
          <p:nvSpPr>
            <p:cNvPr id="18" name="object 18"/>
            <p:cNvSpPr/>
            <p:nvPr/>
          </p:nvSpPr>
          <p:spPr>
            <a:xfrm>
              <a:off x="1402385" y="2356076"/>
              <a:ext cx="393700" cy="0"/>
            </a:xfrm>
            <a:custGeom>
              <a:avLst/>
              <a:gdLst/>
              <a:ahLst/>
              <a:cxnLst/>
              <a:rect l="l" t="t" r="r" b="b"/>
              <a:pathLst>
                <a:path w="393700">
                  <a:moveTo>
                    <a:pt x="0" y="0"/>
                  </a:moveTo>
                  <a:lnTo>
                    <a:pt x="393230" y="0"/>
                  </a:lnTo>
                </a:path>
              </a:pathLst>
            </a:custGeom>
            <a:ln w="317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9741" y="2287758"/>
              <a:ext cx="175834" cy="13663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904220" y="593590"/>
            <a:ext cx="560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10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kN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66317" y="356421"/>
            <a:ext cx="768985" cy="70993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635"/>
              </a:spcBef>
            </a:pPr>
            <a:r>
              <a:rPr sz="1800" dirty="0">
                <a:latin typeface="Calibri"/>
                <a:cs typeface="Calibri"/>
              </a:rPr>
              <a:t>10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kN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dirty="0">
                <a:latin typeface="Calibri"/>
                <a:cs typeface="Calibri"/>
              </a:rPr>
              <a:t>10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kN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19298" y="2003000"/>
            <a:ext cx="560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10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kN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01593" y="531178"/>
            <a:ext cx="4445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FBD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53323" y="2187666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148" y="631034"/>
            <a:ext cx="4025314" cy="40093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5791" y="898785"/>
            <a:ext cx="3807501" cy="4705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47799" y="2650945"/>
            <a:ext cx="30219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6080" algn="l"/>
                <a:tab pos="2798445" algn="l"/>
              </a:tabLst>
            </a:pP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Z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Z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5439" y="934176"/>
            <a:ext cx="3803235" cy="47200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102" y="604391"/>
            <a:ext cx="3894644" cy="29477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312" y="3779319"/>
            <a:ext cx="3422097" cy="187494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18089" y="1175377"/>
            <a:ext cx="962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=18.02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kN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961" y="596654"/>
            <a:ext cx="8629649" cy="533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73526" y="1521272"/>
            <a:ext cx="2628899" cy="4543424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9132" y="460806"/>
            <a:ext cx="2590799" cy="26574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2400" y="269197"/>
            <a:ext cx="8305799" cy="360044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289" y="520961"/>
            <a:ext cx="10029824" cy="3152774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3476" y="3809353"/>
            <a:ext cx="7515224" cy="29146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2366" y="412913"/>
            <a:ext cx="7053261" cy="3129952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5114" y="523090"/>
            <a:ext cx="8226839" cy="36507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480" y="4343120"/>
            <a:ext cx="9397157" cy="199178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0250" y="4067309"/>
            <a:ext cx="4822804" cy="230862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5539" y="1210415"/>
            <a:ext cx="6524624" cy="26003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626" rIns="0" bIns="0" rtlCol="0">
            <a:spAutoFit/>
          </a:bodyPr>
          <a:lstStyle/>
          <a:p>
            <a:pPr marL="3462654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Zero</a:t>
            </a:r>
            <a:r>
              <a:rPr spc="-4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Force</a:t>
            </a:r>
            <a:r>
              <a:rPr spc="-4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Members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415725"/>
            <a:ext cx="5372099" cy="30289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9818" y="3829050"/>
            <a:ext cx="7486081" cy="2889681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2406" y="750903"/>
            <a:ext cx="6626071" cy="536795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701" y="3429000"/>
            <a:ext cx="7724774" cy="27241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393" y="596662"/>
            <a:ext cx="5934721" cy="261596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098" y="1273669"/>
            <a:ext cx="8477249" cy="3600449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8A7D7F5-8AD7-2572-889C-11D251001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33400"/>
            <a:ext cx="9623034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700532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522DA2D-319B-52C8-0E69-9F21D12FF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3400"/>
            <a:ext cx="1001058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5607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748677C-B2F1-3555-EBA5-66008C532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457200"/>
            <a:ext cx="7213417" cy="594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374514E-918D-0ACD-9A7F-C1C3F988A9B4}"/>
              </a:ext>
            </a:extLst>
          </p:cNvPr>
          <p:cNvSpPr txBox="1"/>
          <p:nvPr/>
        </p:nvSpPr>
        <p:spPr>
          <a:xfrm>
            <a:off x="533400" y="3048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Solution. Contd.</a:t>
            </a:r>
          </a:p>
        </p:txBody>
      </p:sp>
    </p:spTree>
    <p:extLst>
      <p:ext uri="{BB962C8B-B14F-4D97-AF65-F5344CB8AC3E}">
        <p14:creationId xmlns:p14="http://schemas.microsoft.com/office/powerpoint/2010/main" xmlns="" val="1480158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5782" y="663944"/>
            <a:ext cx="6712435" cy="3780834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9737" y="363984"/>
            <a:ext cx="6867524" cy="35051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5382" y="380239"/>
            <a:ext cx="815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Solution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9997" y="1007892"/>
            <a:ext cx="2295524" cy="723899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996" y="675257"/>
            <a:ext cx="10651306" cy="2971024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414" y="163761"/>
            <a:ext cx="9454504" cy="383202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75958" y="4161911"/>
            <a:ext cx="11602720" cy="2160270"/>
            <a:chOff x="475958" y="4161911"/>
            <a:chExt cx="11602720" cy="216027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958" y="4161911"/>
              <a:ext cx="5550575" cy="20777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6166" y="5312269"/>
              <a:ext cx="6662368" cy="10096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854" y="1566750"/>
            <a:ext cx="5333999" cy="33623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2279" y="230940"/>
            <a:ext cx="6416675" cy="987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Example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Roboto"/>
                <a:cs typeface="Roboto"/>
              </a:rPr>
              <a:t>For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the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truss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shown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in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the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figure,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the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force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in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the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member </a:t>
            </a:r>
            <a:r>
              <a:rPr sz="1800" b="1" dirty="0">
                <a:latin typeface="Roboto"/>
                <a:cs typeface="Roboto"/>
              </a:rPr>
              <a:t>QR</a:t>
            </a:r>
            <a:r>
              <a:rPr sz="1800" b="1" spc="-55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is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179" y="1356912"/>
            <a:ext cx="8915399" cy="3524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2279" y="70980"/>
            <a:ext cx="9954260" cy="89408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800" b="1" spc="-10" dirty="0">
                <a:latin typeface="Calibri"/>
                <a:cs typeface="Calibri"/>
              </a:rPr>
              <a:t>Example</a:t>
            </a:r>
            <a:endParaRPr sz="1800">
              <a:latin typeface="Calibri"/>
              <a:cs typeface="Calibri"/>
            </a:endParaRPr>
          </a:p>
          <a:p>
            <a:pPr marL="81915">
              <a:lnSpc>
                <a:spcPct val="100000"/>
              </a:lnSpc>
              <a:spcBef>
                <a:spcPts val="1260"/>
              </a:spcBef>
            </a:pPr>
            <a:r>
              <a:rPr sz="1800" dirty="0">
                <a:latin typeface="Roboto"/>
                <a:cs typeface="Roboto"/>
              </a:rPr>
              <a:t>For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the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plane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truss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shown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in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the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figure,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the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number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of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zero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force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members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for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the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given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loading</a:t>
            </a:r>
            <a:r>
              <a:rPr sz="1800" spc="-60" dirty="0">
                <a:latin typeface="Roboto"/>
                <a:cs typeface="Roboto"/>
              </a:rPr>
              <a:t> </a:t>
            </a:r>
            <a:r>
              <a:rPr sz="1800" spc="-25" dirty="0">
                <a:latin typeface="Roboto"/>
                <a:cs typeface="Roboto"/>
              </a:rPr>
              <a:t>is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854" y="824174"/>
            <a:ext cx="8915399" cy="3524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2279" y="230940"/>
            <a:ext cx="815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Solution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8432" y="1962067"/>
            <a:ext cx="6019799" cy="44195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708" y="802750"/>
            <a:ext cx="9153524" cy="10858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2279" y="230940"/>
            <a:ext cx="834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Example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1273" y="676671"/>
            <a:ext cx="9077325" cy="5083175"/>
            <a:chOff x="261273" y="676671"/>
            <a:chExt cx="9077325" cy="50831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8378" y="1400302"/>
              <a:ext cx="3935126" cy="435916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273" y="676671"/>
              <a:ext cx="9077325" cy="7619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398163" y="1027033"/>
            <a:ext cx="2739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reactions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B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C.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299" y="270900"/>
            <a:ext cx="834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Example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BE827EC-C684-A3EE-477A-CFD860323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57200"/>
            <a:ext cx="571500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DB30EB3-F2E8-4761-9203-274BFD6CD4E8}"/>
              </a:ext>
            </a:extLst>
          </p:cNvPr>
          <p:cNvSpPr txBox="1"/>
          <p:nvPr/>
        </p:nvSpPr>
        <p:spPr>
          <a:xfrm>
            <a:off x="304800" y="1524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xmlns="" val="243884403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E94F0DB-9203-4857-631B-E4E912AFB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83129"/>
            <a:ext cx="6096000" cy="4534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E35739E-D148-4181-42F4-E9A11689F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04800"/>
            <a:ext cx="7772400" cy="9185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435FEB3-95BF-7B43-46D2-B8EF3C000A32}"/>
              </a:ext>
            </a:extLst>
          </p:cNvPr>
          <p:cNvSpPr txBox="1"/>
          <p:nvPr/>
        </p:nvSpPr>
        <p:spPr>
          <a:xfrm>
            <a:off x="304800" y="1524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Problem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E2B55A7-9EBA-2034-C685-C33109DAFE0E}"/>
              </a:ext>
            </a:extLst>
          </p:cNvPr>
          <p:cNvSpPr txBox="1"/>
          <p:nvPr/>
        </p:nvSpPr>
        <p:spPr>
          <a:xfrm>
            <a:off x="7924800" y="1752600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Hint. Take a vertical plane cutting the members </a:t>
            </a:r>
            <a:r>
              <a:rPr lang="en-IN" i="1" dirty="0"/>
              <a:t>BC</a:t>
            </a:r>
            <a:r>
              <a:rPr lang="en-IN" dirty="0"/>
              <a:t>, </a:t>
            </a:r>
            <a:r>
              <a:rPr lang="en-IN" i="1" dirty="0"/>
              <a:t>CF</a:t>
            </a:r>
            <a:r>
              <a:rPr lang="en-IN" dirty="0"/>
              <a:t> and </a:t>
            </a:r>
            <a:r>
              <a:rPr lang="en-IN" i="1" dirty="0"/>
              <a:t>FE</a:t>
            </a:r>
            <a:r>
              <a:rPr lang="en-IN" dirty="0"/>
              <a:t>.</a:t>
            </a:r>
          </a:p>
          <a:p>
            <a:r>
              <a:rPr lang="en-IN" dirty="0"/>
              <a:t>Then take moments about points </a:t>
            </a:r>
            <a:r>
              <a:rPr lang="en-IN" i="1" dirty="0"/>
              <a:t>F</a:t>
            </a:r>
            <a:r>
              <a:rPr lang="en-IN" dirty="0"/>
              <a:t>, </a:t>
            </a:r>
            <a:r>
              <a:rPr lang="en-IN" i="1" dirty="0"/>
              <a:t>C</a:t>
            </a:r>
            <a:r>
              <a:rPr lang="en-IN" dirty="0"/>
              <a:t> and </a:t>
            </a:r>
            <a:r>
              <a:rPr lang="en-IN" i="1" dirty="0"/>
              <a:t>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1505383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8EB86E9-18A1-E4DD-7F03-37B6E40C8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611" y="1485900"/>
            <a:ext cx="5928777" cy="3886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6CD5EA5-1267-12BC-42D0-B345C40F4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71164"/>
            <a:ext cx="6689216" cy="7194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81A3D7F-B975-2E82-1526-7142167C4DD8}"/>
              </a:ext>
            </a:extLst>
          </p:cNvPr>
          <p:cNvSpPr txBox="1"/>
          <p:nvPr/>
        </p:nvSpPr>
        <p:spPr>
          <a:xfrm>
            <a:off x="304800" y="1524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xmlns="" val="1826222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480</Words>
  <Application>Microsoft Office PowerPoint</Application>
  <PresentationFormat>Custom</PresentationFormat>
  <Paragraphs>121</Paragraphs>
  <Slides>95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Office Theme</vt:lpstr>
      <vt:lpstr>Engineering Mechanics</vt:lpstr>
      <vt:lpstr>Truss Structures</vt:lpstr>
      <vt:lpstr>Truss System</vt:lpstr>
      <vt:lpstr>Bridge Truss</vt:lpstr>
      <vt:lpstr>Slide 5</vt:lpstr>
      <vt:lpstr>Slide 6</vt:lpstr>
      <vt:lpstr>Slide 7</vt:lpstr>
      <vt:lpstr>Slide 8</vt:lpstr>
      <vt:lpstr>Slide 9</vt:lpstr>
      <vt:lpstr>Slide 10</vt:lpstr>
      <vt:lpstr>Slide 11</vt:lpstr>
      <vt:lpstr>Representations of a truss</vt:lpstr>
      <vt:lpstr>Forces on truss members</vt:lpstr>
      <vt:lpstr>Slide 14</vt:lpstr>
      <vt:lpstr>Slide 15</vt:lpstr>
      <vt:lpstr>Slide 16</vt:lpstr>
      <vt:lpstr>Slide 17</vt:lpstr>
      <vt:lpstr>Truss connected to the wall or structure at one end and free at the other end.</vt:lpstr>
      <vt:lpstr>Slide 19</vt:lpstr>
      <vt:lpstr>Howrah Bridge</vt:lpstr>
      <vt:lpstr>Slide 21</vt:lpstr>
      <vt:lpstr>Supports</vt:lpstr>
      <vt:lpstr>Slide 23</vt:lpstr>
      <vt:lpstr>Slide 24</vt:lpstr>
      <vt:lpstr>Slide 25</vt:lpstr>
      <vt:lpstr>Slide 26</vt:lpstr>
      <vt:lpstr>Slide 27</vt:lpstr>
      <vt:lpstr>Slide 28</vt:lpstr>
      <vt:lpstr>Internal Stability criteria for a planar truss</vt:lpstr>
      <vt:lpstr>Slide 30</vt:lpstr>
      <vt:lpstr>Slide 31</vt:lpstr>
      <vt:lpstr>Examples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Examples</vt:lpstr>
      <vt:lpstr>Slide 41</vt:lpstr>
      <vt:lpstr>Slide 42</vt:lpstr>
      <vt:lpstr>Illustrative example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Final Results</vt:lpstr>
      <vt:lpstr>Slide 53</vt:lpstr>
      <vt:lpstr>Solution</vt:lpstr>
      <vt:lpstr>Slide 55</vt:lpstr>
      <vt:lpstr>Illustrative example</vt:lpstr>
      <vt:lpstr>Slide 57</vt:lpstr>
      <vt:lpstr>Slide 58</vt:lpstr>
      <vt:lpstr>Slide 59</vt:lpstr>
      <vt:lpstr>Slide 60</vt:lpstr>
      <vt:lpstr>Solution</vt:lpstr>
      <vt:lpstr>Slide 62</vt:lpstr>
      <vt:lpstr>Slide 63</vt:lpstr>
      <vt:lpstr>Slide 64</vt:lpstr>
      <vt:lpstr>Slide 65</vt:lpstr>
      <vt:lpstr>Example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Zero Force Members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Mechanics</dc:title>
  <dc:creator>subrata</dc:creator>
  <cp:lastModifiedBy>TIU</cp:lastModifiedBy>
  <cp:revision>16</cp:revision>
  <dcterms:created xsi:type="dcterms:W3CDTF">2025-04-07T06:21:26Z</dcterms:created>
  <dcterms:modified xsi:type="dcterms:W3CDTF">2025-11-28T06:54:37Z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2025-04-07T00:00:00Z</vt:filetime>
  </property>
  <property fmtid="{D5CDD505-2E9C-101B-9397-08002B2CF9AE}" pid="3" name="Creator">
    <vt:lpwstr>Google</vt:lpwstr>
  </property>
  <property fmtid="{D5CDD505-2E9C-101B-9397-08002B2CF9AE}" pid="4" name="LastSaved">
    <vt:filetime>2025-04-07T00:00:00Z</vt:filetime>
  </property>
</Properties>
</file>